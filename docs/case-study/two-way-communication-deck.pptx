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777169"/>
                </a:solidFill>
                <a:latin typeface="Courier New"/>
              </a:rPr>
              <a:t>CASE STUDY · PRODUCT DESIGN · DEVELOPER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669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000" b="0">
                <a:solidFill>
                  <a:srgbClr val="000000"/>
                </a:solidFill>
                <a:latin typeface="Arial"/>
              </a:rPr>
              <a:t>Helping Amazon developers follow their support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777169"/>
                </a:solidFill>
                <a:latin typeface="Arial"/>
              </a:rPr>
              <a:t>What began as a request for two-way communication became a rethink of the support case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A59F97"/>
                </a:solidFill>
                <a:latin typeface="Courier New"/>
              </a:rPr>
              <a:t>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8523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Lead designer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50292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A59F97"/>
                </a:solidFill>
                <a:latin typeface="Courier New"/>
              </a:rP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528523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PM, TPM, engineering,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A59F97"/>
                </a:solidFill>
                <a:latin typeface="Courier New"/>
              </a:rPr>
              <a:t>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1675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Web · Developer console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57607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A59F97"/>
                </a:solidFill>
                <a:latin typeface="Courier New"/>
              </a:rPr>
              <a:t>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601675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000000"/>
                </a:solidFill>
                <a:latin typeface="Arial"/>
              </a:rPr>
              <a:t>Amazon Developer Experience</a:t>
            </a:r>
          </a:p>
        </p:txBody>
      </p:sp>
      <p:pic>
        <p:nvPicPr>
          <p:cNvPr id="13" name="Picture 12" descr="case-th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36471"/>
            <a:ext cx="5166360" cy="291073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309360" y="1836471"/>
            <a:ext cx="5166360" cy="2910737"/>
          </a:xfrm>
          <a:prstGeom prst="rect">
            <a:avLst/>
          </a:prstGeom>
          <a:noFill/>
          <a:ln w="9525">
            <a:solidFill>
              <a:srgbClr val="EB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856936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777169"/>
                </a:solidFill>
                <a:latin typeface="Courier New"/>
              </a:rPr>
              <a:t>After · The case page. Example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777169"/>
                </a:solidFill>
                <a:latin typeface="Courier New"/>
              </a:rPr>
              <a:t>01 ·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600" b="0">
                <a:solidFill>
                  <a:srgbClr val="000000"/>
                </a:solidFill>
                <a:latin typeface="Arial"/>
              </a:rPr>
              <a:t>Developers could open a support case, but not follow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6858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777169"/>
                </a:solidFill>
                <a:latin typeface="Arial"/>
              </a:rPr>
              <a:t>Email carried the whole conversation. I turned the case into a page they can open, follow and return 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24078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400" b="0">
                <a:solidFill>
                  <a:srgbClr val="000000"/>
                </a:solidFill>
                <a:latin typeface="Arial"/>
              </a:rPr>
              <a:t>~47%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92040"/>
            <a:ext cx="23164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777169"/>
                </a:solidFill>
                <a:latin typeface="Arial"/>
              </a:rPr>
              <a:t>fewer cases after 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3683" y="4023360"/>
            <a:ext cx="24078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400" b="0">
                <a:solidFill>
                  <a:srgbClr val="000000"/>
                </a:solidFill>
                <a:latin typeface="Arial"/>
              </a:rPr>
              <a:t>~87%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3683" y="4892040"/>
            <a:ext cx="23164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777169"/>
                </a:solidFill>
                <a:latin typeface="Arial"/>
              </a:rPr>
              <a:t>after the Phase 2 widget (shared with the platform team)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4023360"/>
            <a:ext cx="24078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400" b="0">
                <a:solidFill>
                  <a:srgbClr val="000000"/>
                </a:solidFill>
                <a:latin typeface="Arial"/>
              </a:rPr>
              <a:t>Halved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4892040"/>
            <a:ext cx="23164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777169"/>
                </a:solidFill>
                <a:latin typeface="Arial"/>
              </a:rPr>
              <a:t>turnaround time, roughly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011" y="4023360"/>
            <a:ext cx="24078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400" b="0">
                <a:solidFill>
                  <a:srgbClr val="000000"/>
                </a:solidFill>
                <a:latin typeface="Arial"/>
              </a:rPr>
              <a:t>3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011" y="4892040"/>
            <a:ext cx="23164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777169"/>
                </a:solidFill>
                <a:latin typeface="Arial"/>
              </a:rPr>
              <a:t>of design, plus a week of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59F97"/>
                </a:solidFill>
                <a:latin typeface="Courier New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777169"/>
                </a:solidFill>
                <a:latin typeface="Courier New"/>
              </a:rPr>
              <a:t>02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669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200" b="0">
                <a:solidFill>
                  <a:srgbClr val="000000"/>
                </a:solidFill>
                <a:latin typeface="Arial"/>
              </a:rPr>
              <a:t>A case was never a thing a developer could hold.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3017520"/>
            <a:ext cx="5852160" cy="0"/>
          </a:xfrm>
          <a:prstGeom prst="line">
            <a:avLst/>
          </a:prstGeom>
          <a:ln w="12700">
            <a:solidFill>
              <a:srgbClr val="EBE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320040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000000"/>
                </a:solidFill>
                <a:latin typeface="Arial"/>
              </a:rPr>
              <a:t>Follow-ups became new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320040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777169"/>
                </a:solidFill>
                <a:latin typeface="Arial"/>
              </a:rPr>
              <a:t>One problem, several tickets.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749039"/>
            <a:ext cx="5852160" cy="0"/>
          </a:xfrm>
          <a:prstGeom prst="line">
            <a:avLst/>
          </a:prstGeom>
          <a:ln w="12700">
            <a:solidFill>
              <a:srgbClr val="EBE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39319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000000"/>
                </a:solidFill>
                <a:latin typeface="Arial"/>
              </a:rPr>
              <a:t>History lived in inboxes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93192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777169"/>
                </a:solidFill>
                <a:latin typeface="Arial"/>
              </a:rPr>
              <a:t>Reviewing a case meant searching mail.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4480560"/>
            <a:ext cx="5852160" cy="0"/>
          </a:xfrm>
          <a:prstGeom prst="line">
            <a:avLst/>
          </a:prstGeom>
          <a:ln w="12700">
            <a:solidFill>
              <a:srgbClr val="EBE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466344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000000"/>
                </a:solidFill>
                <a:latin typeface="Arial"/>
              </a:rPr>
              <a:t>Silence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66344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777169"/>
                </a:solidFill>
                <a:latin typeface="Arial"/>
              </a:rPr>
              <a:t>No sign anyone was working on it.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5212080"/>
            <a:ext cx="5852160" cy="0"/>
          </a:xfrm>
          <a:prstGeom prst="line">
            <a:avLst/>
          </a:prstGeom>
          <a:ln w="12700">
            <a:solidFill>
              <a:srgbClr val="EBE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539496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000000"/>
                </a:solidFill>
                <a:latin typeface="Arial"/>
              </a:rPr>
              <a:t>No single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39496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777169"/>
                </a:solidFill>
                <a:latin typeface="Arial"/>
              </a:rPr>
              <a:t>5 teams, 7 tools, no patterns.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5943600"/>
            <a:ext cx="5852160" cy="0"/>
          </a:xfrm>
          <a:prstGeom prst="line">
            <a:avLst/>
          </a:prstGeom>
          <a:ln w="12700">
            <a:solidFill>
              <a:srgbClr val="EBE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before-ban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693926"/>
            <a:ext cx="4434840" cy="3104387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040880" y="1693926"/>
            <a:ext cx="4434840" cy="3104387"/>
          </a:xfrm>
          <a:prstGeom prst="rect">
            <a:avLst/>
          </a:prstGeom>
          <a:noFill/>
          <a:ln w="9525">
            <a:solidFill>
              <a:srgbClr val="EB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4908042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777169"/>
                </a:solidFill>
                <a:latin typeface="Courier New"/>
              </a:rPr>
              <a:t>Before · A support reply has nowhere to live.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59F97"/>
                </a:solidFill>
                <a:latin typeface="Courier New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777169"/>
                </a:solidFill>
                <a:latin typeface="Courier New"/>
              </a:rPr>
              <a:t>02 · PROBLEM ·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600" b="0">
                <a:solidFill>
                  <a:srgbClr val="000000"/>
                </a:solidFill>
                <a:latin typeface="Arial"/>
              </a:rPr>
              <a:t>Real demand, slow answers, scattered voices.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33018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400" b="0">
                <a:solidFill>
                  <a:srgbClr val="000000"/>
                </a:solidFill>
                <a:latin typeface="Arial"/>
              </a:rPr>
              <a:t>13.9k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32104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777169"/>
                </a:solidFill>
                <a:latin typeface="Arial"/>
              </a:rPr>
              <a:t>cases in eight months of 2023, only 2% spam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07738" y="2926080"/>
            <a:ext cx="33018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400" b="0">
                <a:solidFill>
                  <a:srgbClr val="000000"/>
                </a:solidFill>
                <a:latin typeface="Arial"/>
              </a:rPr>
              <a:t>~9 in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7738" y="3794760"/>
            <a:ext cx="32104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777169"/>
                </a:solidFill>
                <a:latin typeface="Arial"/>
              </a:rPr>
              <a:t>resolved within 14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83956" y="2926080"/>
            <a:ext cx="33018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400" b="0">
                <a:solidFill>
                  <a:srgbClr val="000000"/>
                </a:solidFill>
                <a:latin typeface="Arial"/>
              </a:rPr>
              <a:t>10–14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3956" y="3794760"/>
            <a:ext cx="32104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777169"/>
                </a:solidFill>
                <a:latin typeface="Arial"/>
              </a:rPr>
              <a:t>wait for managed partners via a shared mailbox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777169"/>
                </a:solidFill>
                <a:latin typeface="Arial"/>
              </a:rPr>
              <a:t>Forums named “responsiveness” and “support” as the main negative drivers.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59F97"/>
                </a:solidFill>
                <a:latin typeface="Courier New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777169"/>
                </a:solidFill>
                <a:latin typeface="Courier New"/>
              </a:rPr>
              <a:t>03 · ROLE &amp;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200" b="0">
                <a:solidFill>
                  <a:srgbClr val="000000"/>
                </a:solidFill>
                <a:latin typeface="Arial"/>
              </a:rPr>
              <a:t>Three weeks, one designer, a plan a year old.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777169"/>
                </a:solidFill>
                <a:latin typeface="Courier New"/>
              </a:rPr>
              <a:t>ROLE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651760"/>
            <a:ext cx="4937760" cy="0"/>
          </a:xfrm>
          <a:prstGeom prst="line">
            <a:avLst/>
          </a:prstGeom>
          <a:ln w="12700">
            <a:solidFill>
              <a:srgbClr val="EBE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283464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000000"/>
                </a:solidFill>
                <a:latin typeface="Arial"/>
              </a:rPr>
              <a:t>Lead designer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83464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777169"/>
                </a:solidFill>
                <a:latin typeface="Arial"/>
              </a:rPr>
              <a:t>Joined Q3 2024. Strategy and research predated me.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3474720"/>
            <a:ext cx="4937760" cy="0"/>
          </a:xfrm>
          <a:prstGeom prst="line">
            <a:avLst/>
          </a:prstGeom>
          <a:ln w="12700">
            <a:solidFill>
              <a:srgbClr val="EBE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365760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000000"/>
                </a:solidFill>
                <a:latin typeface="Arial"/>
              </a:rPr>
              <a:t>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65760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777169"/>
                </a:solidFill>
                <a:latin typeface="Arial"/>
              </a:rPr>
              <a:t>Creation, status, conversation, history.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4297680"/>
            <a:ext cx="4937760" cy="0"/>
          </a:xfrm>
          <a:prstGeom prst="line">
            <a:avLst/>
          </a:prstGeom>
          <a:ln w="12700">
            <a:solidFill>
              <a:srgbClr val="EBE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448056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000000"/>
                </a:solidFill>
                <a:latin typeface="Arial"/>
              </a:rP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448056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777169"/>
                </a:solidFill>
                <a:latin typeface="Arial"/>
              </a:rPr>
              <a:t>I proposed the widget; the platform team built it.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5120640"/>
            <a:ext cx="4937760" cy="0"/>
          </a:xfrm>
          <a:prstGeom prst="line">
            <a:avLst/>
          </a:prstGeom>
          <a:ln w="12700">
            <a:solidFill>
              <a:srgbClr val="EBE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5303520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000000"/>
                </a:solidFill>
                <a:latin typeface="Arial"/>
              </a:rPr>
              <a:t>Constraint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530352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777169"/>
                </a:solidFill>
                <a:latin typeface="Arial"/>
              </a:rPr>
              <a:t>A retail design system I did not own.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5943600"/>
            <a:ext cx="4937760" cy="0"/>
          </a:xfrm>
          <a:prstGeom prst="line">
            <a:avLst/>
          </a:prstGeom>
          <a:ln w="12700">
            <a:solidFill>
              <a:srgbClr val="EBE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92240" y="22860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777169"/>
                </a:solidFill>
                <a:latin typeface="Courier New"/>
              </a:rPr>
              <a:t>APPROACH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92240" y="2651760"/>
            <a:ext cx="4937760" cy="0"/>
          </a:xfrm>
          <a:prstGeom prst="line">
            <a:avLst/>
          </a:prstGeom>
          <a:ln w="12700">
            <a:solidFill>
              <a:srgbClr val="EBE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2240" y="2834640"/>
            <a:ext cx="1645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000000"/>
                </a:solidFill>
                <a:latin typeface="Arial"/>
              </a:rPr>
              <a:t>Launch and 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83464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777169"/>
                </a:solidFill>
                <a:latin typeface="Arial"/>
              </a:rPr>
              <a:t>Random share of unmanaged developers first.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92240" y="3474720"/>
            <a:ext cx="4937760" cy="0"/>
          </a:xfrm>
          <a:prstGeom prst="line">
            <a:avLst/>
          </a:prstGeom>
          <a:ln w="12700">
            <a:solidFill>
              <a:srgbClr val="EBE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92240" y="3657600"/>
            <a:ext cx="1645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000000"/>
                </a:solidFill>
                <a:latin typeface="Arial"/>
              </a:rPr>
              <a:t>Protect partners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65760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777169"/>
                </a:solidFill>
                <a:latin typeface="Arial"/>
              </a:rPr>
              <a:t>Same email habit, new address.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92240" y="4297680"/>
            <a:ext cx="4937760" cy="0"/>
          </a:xfrm>
          <a:prstGeom prst="line">
            <a:avLst/>
          </a:prstGeom>
          <a:ln w="12700">
            <a:solidFill>
              <a:srgbClr val="EBE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92240" y="4480560"/>
            <a:ext cx="1645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000000"/>
                </a:solidFill>
                <a:latin typeface="Arial"/>
              </a:rPr>
              <a:t>Keep the forum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8056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777169"/>
                </a:solidFill>
                <a:latin typeface="Arial"/>
              </a:rPr>
              <a:t>Out of scope.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92240" y="5120640"/>
            <a:ext cx="4937760" cy="0"/>
          </a:xfrm>
          <a:prstGeom prst="line">
            <a:avLst/>
          </a:prstGeom>
          <a:ln w="12700">
            <a:solidFill>
              <a:srgbClr val="EBE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92240" y="5303520"/>
            <a:ext cx="1645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000000"/>
                </a:solidFill>
                <a:latin typeface="Arial"/>
              </a:rPr>
              <a:t>Phase 1 →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30352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0">
                <a:solidFill>
                  <a:srgbClr val="777169"/>
                </a:solidFill>
                <a:latin typeface="Arial"/>
              </a:rPr>
              <a:t>Case tool first, help widget second.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92240" y="5943600"/>
            <a:ext cx="4937760" cy="0"/>
          </a:xfrm>
          <a:prstGeom prst="line">
            <a:avLst/>
          </a:prstGeom>
          <a:ln w="12700">
            <a:solidFill>
              <a:srgbClr val="EBE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59F97"/>
                </a:solidFill>
                <a:latin typeface="Courier New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777169"/>
                </a:solidFill>
                <a:latin typeface="Courier New"/>
              </a:rPr>
              <a:t>04 ·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600" b="0">
                <a:solidFill>
                  <a:srgbClr val="000000"/>
                </a:solidFill>
                <a:latin typeface="Arial"/>
              </a:rPr>
              <a:t>What I rejected, and what we held back.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2560320"/>
            <a:ext cx="10728655" cy="0"/>
          </a:xfrm>
          <a:prstGeom prst="line">
            <a:avLst/>
          </a:prstGeom>
          <a:ln w="12700">
            <a:solidFill>
              <a:srgbClr val="EBE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2743200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Rejected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442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777169"/>
                </a:solidFill>
                <a:latin typeface="Arial"/>
              </a:rPr>
              <a:t>A read-only viewer on email, which would not stop follow-ups becoming new tickets.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429000"/>
            <a:ext cx="10728655" cy="0"/>
          </a:xfrm>
          <a:prstGeom prst="line">
            <a:avLst/>
          </a:prstGeom>
          <a:ln w="12700">
            <a:solidFill>
              <a:srgbClr val="EBE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3611880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Rejected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611880"/>
            <a:ext cx="8442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777169"/>
                </a:solidFill>
                <a:latin typeface="Arial"/>
              </a:rPr>
              <a:t>A chat-first model: a much larger change, not on the roadmap.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4297679"/>
            <a:ext cx="10728655" cy="0"/>
          </a:xfrm>
          <a:prstGeom prst="line">
            <a:avLst/>
          </a:prstGeom>
          <a:ln w="12700">
            <a:solidFill>
              <a:srgbClr val="EBE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4480559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Held 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480559"/>
            <a:ext cx="8442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777169"/>
                </a:solidFill>
                <a:latin typeface="Arial"/>
              </a:rPr>
              <a:t>A promised resolution date. A missed date costs more trust than silence.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5166359"/>
            <a:ext cx="10728655" cy="0"/>
          </a:xfrm>
          <a:prstGeom prst="line">
            <a:avLst/>
          </a:prstGeom>
          <a:ln w="12700">
            <a:solidFill>
              <a:srgbClr val="EBE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5349240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Held 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5349240"/>
            <a:ext cx="8442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777169"/>
                </a:solidFill>
                <a:latin typeface="Arial"/>
              </a:rPr>
              <a:t>Trend analysis. It needs the single record to exist first.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6035040"/>
            <a:ext cx="10728655" cy="0"/>
          </a:xfrm>
          <a:prstGeom prst="line">
            <a:avLst/>
          </a:prstGeom>
          <a:ln w="12700">
            <a:solidFill>
              <a:srgbClr val="EBE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59F97"/>
                </a:solidFill>
                <a:latin typeface="Courier New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777169"/>
                </a:solidFill>
                <a:latin typeface="Courier New"/>
              </a:rPr>
              <a:t>05 · FIVE DECISIONS ·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023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000" b="0">
                <a:solidFill>
                  <a:srgbClr val="000000"/>
                </a:solidFill>
                <a:latin typeface="Arial"/>
              </a:rPr>
              <a:t>The console holds the conversation, and email mirrors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38404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777169"/>
                </a:solidFill>
                <a:latin typeface="Arial"/>
              </a:rPr>
              <a:t>One thread, newest first. Replies from console and email land together. Resolved cases re-open for 30 days.</a:t>
            </a:r>
          </a:p>
        </p:txBody>
      </p:sp>
      <p:pic>
        <p:nvPicPr>
          <p:cNvPr id="5" name="Picture 4" descr="case-th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618806"/>
            <a:ext cx="6263640" cy="352894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212080" y="1618806"/>
            <a:ext cx="6263640" cy="3528947"/>
          </a:xfrm>
          <a:prstGeom prst="rect">
            <a:avLst/>
          </a:prstGeom>
          <a:noFill/>
          <a:ln w="9525">
            <a:solidFill>
              <a:srgbClr val="EB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5257481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777169"/>
                </a:solidFill>
                <a:latin typeface="Courier New"/>
              </a:rPr>
              <a:t>Phase 1 · The case page. Example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59F97"/>
                </a:solidFill>
                <a:latin typeface="Courier New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777169"/>
                </a:solidFill>
                <a:latin typeface="Courier New"/>
              </a:rPr>
              <a:t>05 · FIVE DECISIONS ·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023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000" b="0">
                <a:solidFill>
                  <a:srgbClr val="000000"/>
                </a:solidFill>
                <a:latin typeface="Arial"/>
              </a:rPr>
              <a:t>Status is the headline, from the developer’s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38404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777169"/>
                </a:solidFill>
                <a:latin typeface="Arial"/>
              </a:rPr>
              <a:t>Pending your action. Pending support action. Resolved. Whose move it is, on every row.</a:t>
            </a:r>
          </a:p>
        </p:txBody>
      </p:sp>
      <p:pic>
        <p:nvPicPr>
          <p:cNvPr id="5" name="Picture 4" descr="case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111179"/>
            <a:ext cx="6263640" cy="2544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212080" y="2111179"/>
            <a:ext cx="6263640" cy="2544200"/>
          </a:xfrm>
          <a:prstGeom prst="rect">
            <a:avLst/>
          </a:prstGeom>
          <a:noFill/>
          <a:ln w="9525">
            <a:solidFill>
              <a:srgbClr val="EB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4765108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777169"/>
                </a:solidFill>
                <a:latin typeface="Courier New"/>
              </a:rPr>
              <a:t>Phase 1 · The case list. Example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59F97"/>
                </a:solidFill>
                <a:latin typeface="Courier New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777169"/>
                </a:solidFill>
                <a:latin typeface="Courier New"/>
              </a:rPr>
              <a:t>05 · FIVE DECISIONS ·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023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000" b="0">
                <a:solidFill>
                  <a:srgbClr val="000000"/>
                </a:solidFill>
                <a:latin typeface="Arial"/>
              </a:rPr>
              <a:t>Collect context up front, accept a longer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38404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777169"/>
                </a:solidFill>
                <a:latin typeface="Arial"/>
              </a:rPr>
              <a:t>Support’s first reply was a question. Now the form asks it, so the first reply is an answer.</a:t>
            </a:r>
          </a:p>
        </p:txBody>
      </p:sp>
      <p:pic>
        <p:nvPicPr>
          <p:cNvPr id="5" name="Picture 4" descr="related-ap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900" y="914400"/>
            <a:ext cx="3048000" cy="4937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19900" y="914400"/>
            <a:ext cx="3048000" cy="4937760"/>
          </a:xfrm>
          <a:prstGeom prst="rect">
            <a:avLst/>
          </a:prstGeom>
          <a:noFill/>
          <a:ln w="9525">
            <a:solidFill>
              <a:srgbClr val="EB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9900" y="5961888"/>
            <a:ext cx="304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777169"/>
                </a:solidFill>
                <a:latin typeface="Courier New"/>
              </a:rPr>
              <a:t>Phase 1 · The form. Example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59F97"/>
                </a:solidFill>
                <a:latin typeface="Courier New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777169"/>
                </a:solidFill>
                <a:latin typeface="Courier New"/>
              </a:rPr>
              <a:t>05 · FIVE DECISIONS ·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023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000" b="0">
                <a:solidFill>
                  <a:srgbClr val="000000"/>
                </a:solidFill>
                <a:latin typeface="Arial"/>
              </a:rPr>
              <a:t>Put cases where developers already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38404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777169"/>
                </a:solidFill>
                <a:latin typeface="Arial"/>
              </a:rPr>
              <a:t>My Cases leads the Help menu. Every app has Communications, with unread counts.</a:t>
            </a:r>
          </a:p>
        </p:txBody>
      </p:sp>
      <p:pic>
        <p:nvPicPr>
          <p:cNvPr id="5" name="Picture 4" descr="app-commun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313241"/>
            <a:ext cx="6263639" cy="214007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212080" y="2313241"/>
            <a:ext cx="6263639" cy="2140077"/>
          </a:xfrm>
          <a:prstGeom prst="rect">
            <a:avLst/>
          </a:prstGeom>
          <a:noFill/>
          <a:ln w="9525">
            <a:solidFill>
              <a:srgbClr val="EB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4563046"/>
            <a:ext cx="6263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777169"/>
                </a:solidFill>
                <a:latin typeface="Courier New"/>
              </a:rPr>
              <a:t>Phase 1 · The inbox. Example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59F97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777169"/>
                </a:solidFill>
                <a:latin typeface="Courier New"/>
              </a:rPr>
              <a:t>05 · FIVE DECISIONS ·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023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000" b="0">
                <a:solidFill>
                  <a:srgbClr val="000000"/>
                </a:solidFill>
                <a:latin typeface="Arial"/>
              </a:rPr>
              <a:t>Adopt the ecosystem, plan the exit, end help in a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38404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777169"/>
                </a:solidFill>
                <a:latin typeface="Arial"/>
              </a:rPr>
              <a:t>A chat widget answers first. With no answer, it opens a case and links to it.</a:t>
            </a:r>
          </a:p>
        </p:txBody>
      </p:sp>
      <p:pic>
        <p:nvPicPr>
          <p:cNvPr id="5" name="Picture 4" descr="chat-wi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150595"/>
            <a:ext cx="6263640" cy="446536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212080" y="1150595"/>
            <a:ext cx="6263640" cy="4465369"/>
          </a:xfrm>
          <a:prstGeom prst="rect">
            <a:avLst/>
          </a:prstGeom>
          <a:noFill/>
          <a:ln w="9525">
            <a:solidFill>
              <a:srgbClr val="EBE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5725692"/>
            <a:ext cx="6263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0" b="0">
                <a:solidFill>
                  <a:srgbClr val="777169"/>
                </a:solidFill>
                <a:latin typeface="Courier New"/>
              </a:rPr>
              <a:t>Phase 2 · Chat. Built by the platform team.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59F97"/>
                </a:solidFill>
                <a:latin typeface="Courier New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777169"/>
                </a:solidFill>
                <a:latin typeface="Courier New"/>
              </a:rPr>
              <a:t>06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600" b="0">
                <a:solidFill>
                  <a:srgbClr val="000000"/>
                </a:solidFill>
                <a:latin typeface="Arial"/>
              </a:rPr>
              <a:t>Fewer cases, because follow-ups stopped creating duplicates.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33018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400" b="0">
                <a:solidFill>
                  <a:srgbClr val="000000"/>
                </a:solidFill>
                <a:latin typeface="Arial"/>
              </a:rPr>
              <a:t>~47%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86200"/>
            <a:ext cx="32104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777169"/>
                </a:solidFill>
                <a:latin typeface="Arial"/>
              </a:rPr>
              <a:t>fewer cases after 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07738" y="3017520"/>
            <a:ext cx="33018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400" b="0">
                <a:solidFill>
                  <a:srgbClr val="000000"/>
                </a:solidFill>
                <a:latin typeface="Arial"/>
              </a:rPr>
              <a:t>Halved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7738" y="3886200"/>
            <a:ext cx="32104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777169"/>
                </a:solidFill>
                <a:latin typeface="Arial"/>
              </a:rPr>
              <a:t>turnaround time, roughly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83956" y="3017520"/>
            <a:ext cx="33018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400" b="0">
                <a:solidFill>
                  <a:srgbClr val="000000"/>
                </a:solidFill>
                <a:latin typeface="Arial"/>
              </a:rPr>
              <a:t>~87%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3956" y="3886200"/>
            <a:ext cx="32104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777169"/>
                </a:solidFill>
                <a:latin typeface="Arial"/>
              </a:rPr>
              <a:t>fewer cases after the Phase 2 widget, built by another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777169"/>
                </a:solidFill>
                <a:latin typeface="Arial"/>
              </a:rPr>
              <a:t>Fewer cases is good only if developers were helped. I have no satisfaction data to show that.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59F97"/>
                </a:solidFill>
                <a:latin typeface="Courier New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777169"/>
                </a:solidFill>
                <a:latin typeface="Courier New"/>
              </a:rPr>
              <a:t>07 ·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000" b="0">
                <a:solidFill>
                  <a:srgbClr val="000000"/>
                </a:solidFill>
                <a:latin typeface="Arial"/>
              </a:rPr>
              <a:t>The most useful change was a model change: from “submit and wait” to “open a thread”.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3291840"/>
            <a:ext cx="10728655" cy="0"/>
          </a:xfrm>
          <a:prstGeom prst="line">
            <a:avLst/>
          </a:prstGeom>
          <a:ln w="12700">
            <a:solidFill>
              <a:srgbClr val="EBE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347472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Measure helped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474720"/>
            <a:ext cx="73453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777169"/>
                </a:solidFill>
                <a:latin typeface="Arial"/>
              </a:rPr>
              <a:t>Satisfaction, form drop-off, re-open rate.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4114800"/>
            <a:ext cx="10728655" cy="0"/>
          </a:xfrm>
          <a:prstGeom prst="line">
            <a:avLst/>
          </a:prstGeom>
          <a:ln w="12700">
            <a:solidFill>
              <a:srgbClr val="EBE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429768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Bring back an estimate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297680"/>
            <a:ext cx="73453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777169"/>
                </a:solidFill>
                <a:latin typeface="Arial"/>
              </a:rPr>
              <a:t>Resolution time, once targets hold.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4937760"/>
            <a:ext cx="10728655" cy="0"/>
          </a:xfrm>
          <a:prstGeom prst="line">
            <a:avLst/>
          </a:prstGeom>
          <a:ln w="12700">
            <a:solidFill>
              <a:srgbClr val="EBE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512064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Grow Communications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5120640"/>
            <a:ext cx="73453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777169"/>
                </a:solidFill>
                <a:latin typeface="Arial"/>
              </a:rPr>
              <a:t>One role-aware home. A direction, not shipped.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5760720"/>
            <a:ext cx="10728655" cy="0"/>
          </a:xfrm>
          <a:prstGeom prst="line">
            <a:avLst/>
          </a:prstGeom>
          <a:ln w="12700">
            <a:solidFill>
              <a:srgbClr val="EBE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A59F97"/>
                </a:solidFill>
                <a:latin typeface="Courier New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